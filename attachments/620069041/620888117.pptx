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2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D927_136C781.xml" ContentType="application/vnd.ms-powerpoint.comments+xml"/>
  <Override PartName="/ppt/comments/modernComment_7FFFDAD7_B12C0054.xml" ContentType="application/vnd.ms-powerpoint.comments+xml"/>
  <Override PartName="/ppt/notesSlides/notesSlide2.xml" ContentType="application/vnd.openxmlformats-officedocument.presentationml.notesSlide+xml"/>
  <Override PartName="/ppt/comments/modernComment_7FFFD928_8E71048D.xml" ContentType="application/vnd.ms-powerpoint.comments+xml"/>
  <Override PartName="/ppt/comments/modernComment_7FFFDAD6_5BF9297E.xml" ContentType="application/vnd.ms-powerpoint.comments+xml"/>
  <Override PartName="/ppt/notesSlides/notesSlide3.xml" ContentType="application/vnd.openxmlformats-officedocument.presentationml.notesSlide+xml"/>
  <Override PartName="/ppt/comments/modernComment_7FFFDAD1_257D428B.xml" ContentType="application/vnd.ms-powerpoint.comments+xml"/>
  <Override PartName="/ppt/comments/modernComment_7FFFDAD4_81BD43D9.xml" ContentType="application/vnd.ms-powerpoint.comments+xml"/>
  <Override PartName="/ppt/notesSlides/notesSlide4.xml" ContentType="application/vnd.openxmlformats-officedocument.presentationml.notesSlide+xml"/>
  <Override PartName="/ppt/comments/modernComment_7FFFDAD5_4249F01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72" r:id="rId3"/>
  </p:sldMasterIdLst>
  <p:notesMasterIdLst>
    <p:notesMasterId r:id="rId17"/>
  </p:notesMasterIdLst>
  <p:sldIdLst>
    <p:sldId id="2147474122" r:id="rId4"/>
    <p:sldId id="2147473973" r:id="rId5"/>
    <p:sldId id="2147473703" r:id="rId6"/>
    <p:sldId id="2147474135" r:id="rId7"/>
    <p:sldId id="2147473704" r:id="rId8"/>
    <p:sldId id="2147474134" r:id="rId9"/>
    <p:sldId id="2147474130" r:id="rId10"/>
    <p:sldId id="2147474129" r:id="rId11"/>
    <p:sldId id="2147474132" r:id="rId12"/>
    <p:sldId id="2147474133" r:id="rId13"/>
    <p:sldId id="2147474131" r:id="rId14"/>
    <p:sldId id="2147473903" r:id="rId15"/>
    <p:sldId id="2147474007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D4B4C8-6056-39B2-EF67-FA682160A939}" name="Bram Verkuijlen" initials="BV" userId="S::Bram.Verkuijlen@amexiogroup.com::acf0c775-48c9-4a0f-bfad-3aeb65e5bb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6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8/10/relationships/authors" Target="authors.xml"/></Relationships>
</file>

<file path=ppt/comments/modernComment_7FFFD927_136C7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9C8751-39D7-452E-A3D0-6B3E7C78FF96}" authorId="{F5D4B4C8-6056-39B2-EF67-FA682160A939}" created="2025-10-28T08:43:35.56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367233" sldId="2147473703"/>
      <ac:spMk id="2" creationId="{A3AACC12-0863-5BB6-7D37-FB43F3993DDA}"/>
      <ac:txMk cp="0" len="21">
        <ac:context len="174" hash="3983995939"/>
      </ac:txMk>
    </ac:txMkLst>
    <p188:pos x="4517005" y="258248"/>
    <p188:txBody>
      <a:bodyPr/>
      <a:lstStyle/>
      <a:p>
        <a:r>
          <a:rPr lang="nl-NL"/>
          <a:t>Hoodvraag toevoegen</a:t>
        </a:r>
      </a:p>
    </p188:txBody>
  </p188:cm>
</p188:cmLst>
</file>

<file path=ppt/comments/modernComment_7FFFD928_8E7104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EE6D03-335E-4E2B-BF92-9A4B0383B78E}" authorId="{F5D4B4C8-6056-39B2-EF67-FA682160A939}" created="2025-10-28T08:44:53.201">
    <pc:sldMkLst xmlns:pc="http://schemas.microsoft.com/office/powerpoint/2013/main/command">
      <pc:docMk/>
      <pc:sldMk cId="2389771405" sldId="2147473704"/>
    </pc:sldMkLst>
    <p188:txBody>
      <a:bodyPr/>
      <a:lstStyle/>
      <a:p>
        <a:r>
          <a:rPr lang="nl-NL"/>
          <a:t>Meer informatie in keywords</a:t>
        </a:r>
      </a:p>
    </p188:txBody>
  </p188:cm>
  <p188:cm id="{C10D8F71-C168-4B78-B7F6-A2F540E44B13}" authorId="{F5D4B4C8-6056-39B2-EF67-FA682160A939}" created="2025-10-28T09:11:06.560">
    <pc:sldMkLst xmlns:pc="http://schemas.microsoft.com/office/powerpoint/2013/main/command">
      <pc:docMk/>
      <pc:sldMk cId="2389771405" sldId="2147473704"/>
    </pc:sldMkLst>
    <p188:txBody>
      <a:bodyPr/>
      <a:lstStyle/>
      <a:p>
        <a:r>
          <a:rPr lang="nl-NL"/>
          <a:t>Laat hier de feedback, verwerking, nieuwe aanpak, feedback conformeren</a:t>
        </a:r>
      </a:p>
    </p188:txBody>
  </p188:cm>
</p188:cmLst>
</file>

<file path=ppt/comments/modernComment_7FFFDAD1_257D42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17064C-B4C3-4D75-8393-35AB96E0D3C8}" authorId="{F5D4B4C8-6056-39B2-EF67-FA682160A939}" created="2025-10-28T08:49:08.845">
    <pc:sldMkLst xmlns:pc="http://schemas.microsoft.com/office/powerpoint/2013/main/command">
      <pc:docMk/>
      <pc:sldMk cId="628966027" sldId="2147474129"/>
    </pc:sldMkLst>
    <p188:replyLst>
      <p188:reply id="{1EB4E7A5-3A14-4382-BA1B-1D87CB358771}" authorId="{F5D4B4C8-6056-39B2-EF67-FA682160A939}" created="2025-10-28T08:49:42.491">
        <p188:txBody>
          <a:bodyPr/>
          <a:lstStyle/>
          <a:p>
            <a:r>
              <a:rPr lang="nl-NL"/>
              <a:t>Slide aanpassen naar nieuwe focus</a:t>
            </a:r>
          </a:p>
        </p188:txBody>
      </p188:reply>
    </p188:replyLst>
    <p188:txBody>
      <a:bodyPr/>
      <a:lstStyle/>
      <a:p>
        <a:r>
          <a:rPr lang="nl-NL"/>
          <a:t>Verleggen focus</a:t>
        </a:r>
      </a:p>
    </p188:txBody>
  </p188:cm>
</p188:cmLst>
</file>

<file path=ppt/comments/modernComment_7FFFDAD4_81BD43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FA390F-6542-42A1-BB92-AF8299096205}" authorId="{F5D4B4C8-6056-39B2-EF67-FA682160A939}" created="2025-10-27T10:36:43.158">
    <pc:sldMkLst xmlns:pc="http://schemas.microsoft.com/office/powerpoint/2013/main/command">
      <pc:docMk/>
      <pc:sldMk cId="2176664537" sldId="2147474132"/>
    </pc:sldMkLst>
    <p188:txBody>
      <a:bodyPr/>
      <a:lstStyle/>
      <a:p>
        <a:r>
          <a:rPr lang="nl-NL"/>
          <a:t>Mogelijk kort bespreken?</a:t>
        </a:r>
      </a:p>
    </p188:txBody>
  </p188:cm>
  <p188:cm id="{11609141-4680-44D1-9308-43698D836871}" authorId="{F5D4B4C8-6056-39B2-EF67-FA682160A939}" created="2025-10-28T08:52:59.970">
    <pc:sldMkLst xmlns:pc="http://schemas.microsoft.com/office/powerpoint/2013/main/command">
      <pc:docMk/>
      <pc:sldMk cId="2176664537" sldId="2147474132"/>
    </pc:sldMkLst>
    <p188:txBody>
      <a:bodyPr/>
      <a:lstStyle/>
      <a:p>
        <a:r>
          <a:rPr lang="nl-NL"/>
          <a:t>Uit de presentatie laten, nieuwe focus verteld dit al</a:t>
        </a:r>
      </a:p>
    </p188:txBody>
  </p188:cm>
</p188:cmLst>
</file>

<file path=ppt/comments/modernComment_7FFFDAD5_4249F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5F70CA-83CD-4149-9F84-66F0321E714C}" authorId="{F5D4B4C8-6056-39B2-EF67-FA682160A939}" created="2025-10-28T09:01:21.286">
    <pc:sldMkLst xmlns:pc="http://schemas.microsoft.com/office/powerpoint/2013/main/command">
      <pc:docMk/>
      <pc:sldMk cId="69508865" sldId="2147474133"/>
    </pc:sldMkLst>
    <p188:replyLst>
      <p188:reply id="{1CDCD0DD-215E-44A7-A078-5AD5F450F9C1}" authorId="{F5D4B4C8-6056-39B2-EF67-FA682160A939}" created="2025-10-28T09:02:40.330">
        <p188:txBody>
          <a:bodyPr/>
          <a:lstStyle/>
          <a:p>
            <a:r>
              <a:rPr lang="nl-NL"/>
              <a:t>Kleinere stukken of meer naar de basics (De Kern uitleggen, meer oppervlakkig)</a:t>
            </a:r>
          </a:p>
        </p188:txBody>
      </p188:reply>
    </p188:replyLst>
    <p188:txBody>
      <a:bodyPr/>
      <a:lstStyle/>
      <a:p>
        <a:r>
          <a:rPr lang="nl-NL"/>
          <a:t>Mogeijk visueeler maken, logische volgorde</a:t>
        </a:r>
      </a:p>
    </p188:txBody>
  </p188:cm>
</p188:cmLst>
</file>

<file path=ppt/comments/modernComment_7FFFDAD6_5BF929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0EE9B6-0A03-4852-82B1-54D8ED093F48}" authorId="{F5D4B4C8-6056-39B2-EF67-FA682160A939}" created="2025-10-28T08:47:19.505">
    <pc:sldMkLst xmlns:pc="http://schemas.microsoft.com/office/powerpoint/2013/main/command">
      <pc:docMk/>
      <pc:sldMk cId="192286515" sldId="2147474125"/>
    </pc:sldMkLst>
    <p188:txBody>
      <a:bodyPr/>
      <a:lstStyle/>
      <a:p>
        <a:r>
          <a:rPr lang="nl-NL"/>
          <a:t>Aangeven visueel dat het oud is</a:t>
        </a:r>
      </a:p>
    </p188:txBody>
  </p188:cm>
</p188:cmLst>
</file>

<file path=ppt/comments/modernComment_7FFFDAD7_B12C00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D339BA-A913-4ECF-9C8B-74BC94D2C33A}" authorId="{F5D4B4C8-6056-39B2-EF67-FA682160A939}" created="2025-10-28T08:47:19.505">
    <pc:sldMkLst xmlns:pc="http://schemas.microsoft.com/office/powerpoint/2013/main/command">
      <pc:docMk/>
      <pc:sldMk cId="192286515" sldId="2147474125"/>
    </pc:sldMkLst>
    <p188:txBody>
      <a:bodyPr/>
      <a:lstStyle/>
      <a:p>
        <a:r>
          <a:rPr lang="nl-NL"/>
          <a:t>Aangeven visueel dat het oud 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65B01-4606-40AC-93E3-AD2387E162FF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9790-A626-4BEA-BF0F-DDF08C24D8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6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098C-8744-4235-CCDC-D177C4E75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4BCB922-72D5-234C-8D93-FB6B96B41EAE}" type="datetime1">
              <a:rPr lang="en-US" smtClean="0"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4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B841-6AF7-D9CC-9C5F-9B654AC0ED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5C151D-6355-E34E-942A-73B02B2310D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9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69790-A626-4BEA-BF0F-DDF08C24D8D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0980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B841-6AF7-D9CC-9C5F-9B654AC0ED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5C151D-6355-E34E-942A-73B02B2310D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90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2E8E8-5481-D44D-8AA8-FAA8A5379D6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C3451-3894-2743-8B27-A8A781FE461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563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CD43-0538-E679-8DCF-B7F8AA293D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D0E16-2FF9-9543-B142-63A853B650E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11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1554-0B53-2587-EC2F-D03BC964E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E1AED-5447-3690-8F15-2D8041A8D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4C3C-13FA-603C-F749-35A310D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78B8-648F-FA4C-7A3E-D0720E16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33B6-EE01-4815-1E13-91C826EA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30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34A1-18C3-E011-4D4B-69A6BBB9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A1F9-CE72-7D2A-1F87-CF4C4D42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6940-FD8A-FEA5-02B5-E09101D2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22F36-352C-2D84-1806-95F3879B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EC60-4E99-955A-B2BA-85F3BF48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70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51D8-FED3-5A3B-63C4-B4D853B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F1D19-ED80-61C7-BA49-73B478941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FED45-C2E9-2838-8A1C-821EC4BD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B3F6-1940-840B-C4FC-18EFBB4B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FCE7-C650-62F9-735D-89AE925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70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2264-7ABE-AF39-3DE9-C9ACEC8D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32F8-7552-778A-F91C-277687A6B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5F03-B3F7-AE77-C429-2C84695E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B0272-C606-4C75-7806-3456E0B8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EC23-EFA0-1CBA-B495-AF46FF00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4F652-53D8-48B4-B3FB-BC3AE3FC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39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E5C9-8281-B024-B070-C51AA08A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FD01-9A24-7235-6559-E3393ED6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D6E39-237B-0619-7ED1-48C3D9A48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F92D5-F876-7CD4-DE56-D241467AC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4824C-5314-FFC0-640A-085470959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D4B77-AE2A-5236-BDD9-CE7409F4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F31DE-DBDE-EF1F-D618-D337A22F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C9304-AD61-986E-1F19-2FEC89B4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026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44C0-DD13-49D5-DE41-A4B7BB95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61574-3574-E555-E326-42D68AF6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789B-5B46-1744-2A79-E8F62F0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7C447-451C-EE6A-9FC8-0A5CA801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5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5F718-5031-4476-3A9F-DAB92071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4525-91E6-DE02-B191-A0CAC369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48D7-32C0-4B2F-99D3-A8903AEF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8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A63C-36DF-46DA-4948-252639B8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8255-08DF-5250-5A04-5DFA45D85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F4432-742C-232E-7C8E-55CE85B2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EE2A-0FA5-47AC-E078-FBB18D7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770D-0E99-C4C5-FE0B-00155AA2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9A5BC-6419-DB54-94FA-F0892E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799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DCB1-C368-1F31-B1B5-AF91A0B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F9436-D05B-4AC7-F506-08B0175C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3843-BC34-FBA3-5764-5CD8625B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6334-7642-9DC5-7408-38A0D940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8F2-FA24-8C21-5C10-413194F3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C14B-691A-E562-9384-0BB7DC58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65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13CB-FD04-08D5-A1CB-0DACC219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CD95-F3CA-1D07-A059-93549E71C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0ED-677B-9605-1539-BC6A8C49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651B-F93F-6511-BE6D-DDBCDF52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109B-DE6B-6542-209F-335DCEF8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61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CF98C-1593-9728-4C99-4D1AEB30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46B0-A071-30D0-7346-C980DE443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5F98-5D8F-DC9C-A13C-F40922B0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E8B3-7191-743F-3C34-BEADF07B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39D01-FAB1-E1F6-49E4-9E2B984A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728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48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Text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6365812" y="6727852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898E205-199B-37F2-6FAD-1ED8AABCB210}"/>
              </a:ext>
            </a:extLst>
          </p:cNvPr>
          <p:cNvSpPr txBox="1"/>
          <p:nvPr userDrawn="1"/>
        </p:nvSpPr>
        <p:spPr>
          <a:xfrm>
            <a:off x="7243763" y="157163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nl-BE" sz="1600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0FF5224-8022-8776-1E47-8EF788242641}"/>
              </a:ext>
            </a:extLst>
          </p:cNvPr>
          <p:cNvSpPr txBox="1"/>
          <p:nvPr userDrawn="1"/>
        </p:nvSpPr>
        <p:spPr>
          <a:xfrm>
            <a:off x="12087225" y="7143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nl-BE" sz="1600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169D733-98A1-FAB9-3253-AA81239167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7193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909FA9-5895-59D9-338B-B8B3A05E2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1" y="1638300"/>
            <a:ext cx="10515599" cy="3204993"/>
          </a:xfrm>
          <a:prstGeom prst="rect">
            <a:avLst/>
          </a:prstGeom>
        </p:spPr>
        <p:txBody>
          <a:bodyPr lIns="0" rIns="0"/>
          <a:lstStyle>
            <a:lvl1pPr marL="177800" indent="-177800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1pPr>
            <a:lvl2pPr marL="357188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2pPr>
            <a:lvl3pPr marL="536575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3pPr>
            <a:lvl4pPr marL="714375" indent="-177800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4pPr>
            <a:lvl5pPr marL="893763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8B7C3F-03E9-56E0-F759-0BBD7B34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7148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761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EF81821-C345-2C91-7E03-C69661B1E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8986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13F8D0-B5D6-74E4-D0A6-6A5CA0AD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35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sclaimer-English (United States)">
            <a:extLst>
              <a:ext uri="{FF2B5EF4-FFF2-40B4-BE49-F238E27FC236}">
                <a16:creationId xmlns:a16="http://schemas.microsoft.com/office/drawing/2014/main" id="{35BA136D-9368-5546-B2BA-488E18CCE2A4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4C0B8F-504D-4C88-64D0-FED6F18727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1" y="3677888"/>
            <a:ext cx="10496061" cy="363176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9CB2A-630F-353F-8C2A-93963ABC3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155076"/>
            <a:ext cx="10496062" cy="1522688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7938" indent="0" algn="l">
              <a:tabLst/>
              <a:defRPr lang="en-US" sz="4800" b="0" i="0" spc="-20">
                <a:solidFill>
                  <a:schemeClr val="accent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77049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E07814-D950-7C73-611F-12486C23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54" y="3590835"/>
            <a:ext cx="6493891" cy="3631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0F071-6068-0153-5DF2-6959FBA6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422" y="3080544"/>
            <a:ext cx="8417156" cy="51029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defRPr lang="en-US" sz="4800" b="0" i="0" spc="-20">
                <a:solidFill>
                  <a:schemeClr val="accent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89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ility Slides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47EAE3-8A4F-B426-ACF4-513792636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8524" y="1638300"/>
            <a:ext cx="6814876" cy="5029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9525" indent="0" algn="l">
              <a:buNone/>
              <a:tabLst/>
              <a:defRPr sz="1400">
                <a:solidFill>
                  <a:schemeClr val="accent1"/>
                </a:solidFill>
              </a:defRPr>
            </a:lvl1pPr>
            <a:lvl2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2pPr>
            <a:lvl3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4pPr>
            <a:lvl5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3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983174-08FC-278E-1BD4-45862540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24" y="365125"/>
            <a:ext cx="9939076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25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4000">
                <a:schemeClr val="accent3">
                  <a:alpha val="30886"/>
                </a:schemeClr>
              </a:gs>
              <a:gs pos="0">
                <a:schemeClr val="accent6">
                  <a:alpha val="35158"/>
                </a:schemeClr>
              </a:gs>
              <a:gs pos="67000">
                <a:schemeClr val="bg1">
                  <a:lumMod val="75000"/>
                  <a:alpha val="66000"/>
                </a:schemeClr>
              </a:gs>
              <a:gs pos="100000">
                <a:schemeClr val="bg2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accent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bg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GB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43" y="1206925"/>
            <a:ext cx="2447669" cy="50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BB3D156-9B47-0514-A42D-089E70DDB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C1850-3B42-6DE4-C775-5A59E4498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1" y="1652587"/>
            <a:ext cx="10515599" cy="3204993"/>
          </a:xfrm>
          <a:prstGeom prst="rect">
            <a:avLst/>
          </a:prstGeom>
        </p:spPr>
        <p:txBody>
          <a:bodyPr lIns="0" rIns="0"/>
          <a:lstStyle>
            <a:lvl1pPr marL="177800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1pPr>
            <a:lvl2pPr marL="357188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2pPr>
            <a:lvl3pPr marL="536575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3pPr>
            <a:lvl4pPr marL="714375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4pPr>
            <a:lvl5pPr marL="893763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EFA43-6817-7337-CF67-57950D39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515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433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s 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4013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059C-6BE6-51F3-214B-BFC5D64184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2800562"/>
            <a:ext cx="10401300" cy="3866938"/>
          </a:xfrm>
          <a:prstGeom prst="rect">
            <a:avLst/>
          </a:prstGeom>
        </p:spPr>
        <p:txBody>
          <a:bodyPr lIns="0" rIns="0" numCol="2" spcCol="72000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623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Sub Titles + 2 Column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9AA85-E4BD-6EC3-B832-EEAB4D00C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4590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FCFE9-0422-DEB2-5D5B-B2B0C5FDE3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DB9CAB-53E9-F7F7-1699-57A345CAB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459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5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sclaimer-English (United States)">
            <a:extLst>
              <a:ext uri="{FF2B5EF4-FFF2-40B4-BE49-F238E27FC236}">
                <a16:creationId xmlns:a16="http://schemas.microsoft.com/office/drawing/2014/main" id="{35BA136D-9368-5546-B2BA-488E18CCE2A4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4C0B8F-504D-4C88-64D0-FED6F18727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1" y="3644570"/>
            <a:ext cx="10496061" cy="26793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9CB2A-630F-353F-8C2A-93963ABC3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305658"/>
            <a:ext cx="10496062" cy="1123342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7938" indent="0" algn="l">
              <a:tabLst/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541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E07814-D950-7C73-611F-12486C23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54" y="3590835"/>
            <a:ext cx="6493891" cy="3631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0F071-6068-0153-5DF2-6959FBA6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422" y="3080544"/>
            <a:ext cx="8417156" cy="51029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997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ility Slide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47EAE3-8A4F-B426-ACF4-513792636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8524" y="1638300"/>
            <a:ext cx="6814876" cy="5029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9525" indent="0" algn="l">
              <a:buNone/>
              <a:tabLst/>
              <a:defRPr sz="1400">
                <a:solidFill>
                  <a:schemeClr val="tx1"/>
                </a:solidFill>
              </a:defRPr>
            </a:lvl1pPr>
            <a:lvl2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4pPr>
            <a:lvl5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983174-08FC-278E-1BD4-45862540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24" y="365125"/>
            <a:ext cx="9939076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413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3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microsoft.com/office/2007/relationships/hdphoto" Target="../media/hdphoto2.wdp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7.xml"/><Relationship Id="rId9" Type="http://schemas.openxmlformats.org/officeDocument/2006/relationships/tags" Target="../tags/tag2.xml"/><Relationship Id="rId14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microsoft.com/office/2007/relationships/hdphoto" Target="../media/hdphoto4.wdp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0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ags" Target="../tags/tag8.xml"/><Relationship Id="rId5" Type="http://schemas.openxmlformats.org/officeDocument/2006/relationships/slideLayout" Target="../slideLayouts/slideLayout25.xml"/><Relationship Id="rId15" Type="http://schemas.microsoft.com/office/2007/relationships/hdphoto" Target="../media/hdphoto5.wdp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00FFB-C85D-0240-E82C-FBF6F702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7336-8C8B-FE75-C8ED-AEFE2029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A4D9-F9D1-485D-3C29-40DE3F5A2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4134D-7E15-407A-8435-7184106C40D7}" type="datetimeFigureOut">
              <a:rPr lang="en-NL" smtClean="0"/>
              <a:t>28/10/2025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FEB3-0E0A-E0E1-BACE-51F9FC674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F0D5F-418A-6B19-9342-CA77A0AE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855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lumMod val="92000"/>
                <a:lumOff val="8000"/>
              </a:schemeClr>
            </a:gs>
            <a:gs pos="0">
              <a:schemeClr val="bg1">
                <a:lumMod val="95000"/>
              </a:schemeClr>
            </a:gs>
            <a:gs pos="98000">
              <a:schemeClr val="bg1"/>
            </a:gs>
          </a:gsLst>
          <a:path path="circle">
            <a:fillToRect l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7BF611A-8286-C7D0-B98B-155872C93A84}"/>
              </a:ext>
            </a:extLst>
          </p:cNvPr>
          <p:cNvGrpSpPr/>
          <p:nvPr userDrawn="1"/>
        </p:nvGrpSpPr>
        <p:grpSpPr>
          <a:xfrm>
            <a:off x="9336343" y="-130410"/>
            <a:ext cx="3371923" cy="7118819"/>
            <a:chOff x="9327634" y="-155759"/>
            <a:chExt cx="3371923" cy="71188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7CE25-6361-AAF8-4F51-BCEB2D97F72C}"/>
                </a:ext>
              </a:extLst>
            </p:cNvPr>
            <p:cNvGrpSpPr/>
            <p:nvPr userDrawn="1"/>
          </p:nvGrpSpPr>
          <p:grpSpPr>
            <a:xfrm>
              <a:off x="9327634" y="-155759"/>
              <a:ext cx="3371923" cy="7118819"/>
              <a:chOff x="9327634" y="-155759"/>
              <a:chExt cx="3371923" cy="7118819"/>
            </a:xfrm>
          </p:grpSpPr>
          <p:pic>
            <p:nvPicPr>
              <p:cNvPr id="3" name="Picture 16" descr="A white lines on a black background&#10;&#10;Description automatically generated">
                <a:extLst>
                  <a:ext uri="{FF2B5EF4-FFF2-40B4-BE49-F238E27FC236}">
                    <a16:creationId xmlns:a16="http://schemas.microsoft.com/office/drawing/2014/main" id="{D57DFD89-2408-256D-DBE9-3B1062EBDFD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0" cstate="screen">
                <a:duotone>
                  <a:prstClr val="black"/>
                  <a:schemeClr val="tx1">
                    <a:lumMod val="50000"/>
                    <a:lumOff val="50000"/>
                    <a:tint val="45000"/>
                    <a:satMod val="400000"/>
                  </a:schemeClr>
                </a:duotone>
                <a:alphaModFix amt="81000"/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62000"/>
                        </a14:imgEffect>
                        <a14:imgEffect>
                          <a14:brightnessContrast bright="13000" contras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5723844" flipH="1">
                <a:off x="8019333" y="2282836"/>
                <a:ext cx="7118819" cy="2241629"/>
              </a:xfrm>
              <a:prstGeom prst="rect">
                <a:avLst/>
              </a:prstGeom>
            </p:spPr>
          </p:pic>
          <p:pic>
            <p:nvPicPr>
              <p:cNvPr id="7" name="Graphic 9">
                <a:extLst>
                  <a:ext uri="{FF2B5EF4-FFF2-40B4-BE49-F238E27FC236}">
                    <a16:creationId xmlns:a16="http://schemas.microsoft.com/office/drawing/2014/main" id="{7D799F13-81CD-8332-955F-7AE08E57A00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 cstate="screen">
                <a:alphaModFix amt="1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327634" y="45791"/>
                <a:ext cx="2864366" cy="6812209"/>
              </a:xfrm>
              <a:prstGeom prst="rect">
                <a:avLst/>
              </a:prstGeom>
              <a:noFill/>
            </p:spPr>
          </p:pic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64D9ABAF-1538-3E0B-EABF-8164FDBE62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1493477" y="128909"/>
              <a:ext cx="313989" cy="313989"/>
            </a:xfrm>
            <a:prstGeom prst="rect">
              <a:avLst/>
            </a:prstGeom>
          </p:spPr>
        </p:pic>
      </p:grpSp>
      <p:sp>
        <p:nvSpPr>
          <p:cNvPr id="4" name="Disclaimer-English (United States)">
            <a:extLst>
              <a:ext uri="{FF2B5EF4-FFF2-40B4-BE49-F238E27FC236}">
                <a16:creationId xmlns:a16="http://schemas.microsoft.com/office/drawing/2014/main" id="{4967612C-8E7D-9533-40CB-B02510C5F5E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>
                  <a:lumMod val="75000"/>
                  <a:lumOff val="2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-50" baseline="0">
          <a:solidFill>
            <a:schemeClr val="accent1"/>
          </a:solidFill>
          <a:latin typeface="Lexend Medium" pitchFamily="2" charset="77"/>
          <a:ea typeface="+mj-ea"/>
          <a:cs typeface="+mj-cs"/>
        </a:defRPr>
      </a:lvl1pPr>
    </p:titleStyle>
    <p:bodyStyle>
      <a:lvl1pPr marL="228600" indent="-137160" algn="l" defTabSz="914400" rtl="0" eaLnBrk="1" latinLnBrk="0" hangingPunct="1">
        <a:lnSpc>
          <a:spcPct val="120000"/>
        </a:lnSpc>
        <a:spcBef>
          <a:spcPts val="10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1pPr>
      <a:lvl2pPr marL="6858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2pPr>
      <a:lvl3pPr marL="11430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3pPr>
      <a:lvl4pPr marL="16002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4pPr>
      <a:lvl5pPr marL="20574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6">
          <p15:clr>
            <a:srgbClr val="F26B43"/>
          </p15:clr>
        </p15:guide>
        <p15:guide id="4" pos="7584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pos="7104">
          <p15:clr>
            <a:srgbClr val="F26B43"/>
          </p15:clr>
        </p15:guide>
        <p15:guide id="8" pos="5712">
          <p15:clr>
            <a:srgbClr val="F26B43"/>
          </p15:clr>
        </p15:guide>
        <p15:guide id="9" pos="1968">
          <p15:clr>
            <a:srgbClr val="F26B43"/>
          </p15:clr>
        </p15:guide>
        <p15:guide id="10" pos="2544">
          <p15:clr>
            <a:srgbClr val="F26B43"/>
          </p15:clr>
        </p15:guide>
        <p15:guide id="11" pos="5136">
          <p15:clr>
            <a:srgbClr val="F26B43"/>
          </p15:clr>
        </p15:guide>
        <p15:guide id="12" orient="horz" pos="1032">
          <p15:clr>
            <a:srgbClr val="F26B43"/>
          </p15:clr>
        </p15:guide>
        <p15:guide id="13" pos="55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2">
                <a:lumMod val="92000"/>
                <a:lumOff val="8000"/>
              </a:schemeClr>
            </a:gs>
            <a:gs pos="0">
              <a:schemeClr val="accent1"/>
            </a:gs>
            <a:gs pos="98000">
              <a:schemeClr val="accent1">
                <a:lumMod val="5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lines on a black background&#10;&#10;Description automatically generated">
            <a:extLst>
              <a:ext uri="{FF2B5EF4-FFF2-40B4-BE49-F238E27FC236}">
                <a16:creationId xmlns:a16="http://schemas.microsoft.com/office/drawing/2014/main" id="{965C87A4-1B43-8B8C-4A6D-14E83C072BF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2" cstate="screen">
            <a:alphaModFix amt="34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5723844" flipH="1">
            <a:off x="8200647" y="2502809"/>
            <a:ext cx="6929829" cy="19969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F29EE8C-1111-1914-510B-89BF593B2E44}"/>
              </a:ext>
            </a:extLst>
          </p:cNvPr>
          <p:cNvGrpSpPr/>
          <p:nvPr userDrawn="1"/>
        </p:nvGrpSpPr>
        <p:grpSpPr>
          <a:xfrm>
            <a:off x="9308381" y="0"/>
            <a:ext cx="2883619" cy="6858418"/>
            <a:chOff x="9308381" y="0"/>
            <a:chExt cx="2883619" cy="6858418"/>
          </a:xfrm>
        </p:grpSpPr>
        <p:pic>
          <p:nvPicPr>
            <p:cNvPr id="15" name="Graphic 9">
              <a:extLst>
                <a:ext uri="{FF2B5EF4-FFF2-40B4-BE49-F238E27FC236}">
                  <a16:creationId xmlns:a16="http://schemas.microsoft.com/office/drawing/2014/main" id="{CF60B33A-1BBB-E147-3104-9D84182A897A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14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08381" y="0"/>
              <a:ext cx="2883619" cy="6858418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977B9CEE-0BB4-191D-2130-61443CECBC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1516400" y="128909"/>
              <a:ext cx="298323" cy="298323"/>
            </a:xfrm>
            <a:prstGeom prst="rect">
              <a:avLst/>
            </a:prstGeom>
          </p:spPr>
        </p:pic>
      </p:grpSp>
      <p:sp>
        <p:nvSpPr>
          <p:cNvPr id="4" name="Disclaimer-English (United States)">
            <a:extLst>
              <a:ext uri="{FF2B5EF4-FFF2-40B4-BE49-F238E27FC236}">
                <a16:creationId xmlns:a16="http://schemas.microsoft.com/office/drawing/2014/main" id="{4967612C-8E7D-9533-40CB-B02510C5F5EB}"/>
              </a:ext>
            </a:extLst>
          </p:cNvPr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accent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accent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4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-50" baseline="0">
          <a:solidFill>
            <a:schemeClr val="bg2"/>
          </a:solidFill>
          <a:latin typeface="Lexend Medium" pitchFamily="2" charset="77"/>
          <a:ea typeface="+mj-ea"/>
          <a:cs typeface="+mj-cs"/>
        </a:defRPr>
      </a:lvl1pPr>
    </p:titleStyle>
    <p:bodyStyle>
      <a:lvl1pPr marL="228600" indent="-137160" algn="l" defTabSz="914400" rtl="0" eaLnBrk="1" latinLnBrk="0" hangingPunct="1">
        <a:lnSpc>
          <a:spcPct val="120000"/>
        </a:lnSpc>
        <a:spcBef>
          <a:spcPts val="10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1pPr>
      <a:lvl2pPr marL="6858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2pPr>
      <a:lvl3pPr marL="11430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3pPr>
      <a:lvl4pPr marL="16002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4pPr>
      <a:lvl5pPr marL="20574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6">
          <p15:clr>
            <a:srgbClr val="F26B43"/>
          </p15:clr>
        </p15:guide>
        <p15:guide id="4" pos="7584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pos="7104">
          <p15:clr>
            <a:srgbClr val="F26B43"/>
          </p15:clr>
        </p15:guide>
        <p15:guide id="8" pos="5712">
          <p15:clr>
            <a:srgbClr val="F26B43"/>
          </p15:clr>
        </p15:guide>
        <p15:guide id="9" pos="1968">
          <p15:clr>
            <a:srgbClr val="F26B43"/>
          </p15:clr>
        </p15:guide>
        <p15:guide id="10" pos="2544">
          <p15:clr>
            <a:srgbClr val="F26B43"/>
          </p15:clr>
        </p15:guide>
        <p15:guide id="11" pos="5136">
          <p15:clr>
            <a:srgbClr val="F26B43"/>
          </p15:clr>
        </p15:guide>
        <p15:guide id="12" orient="horz" pos="1032">
          <p15:clr>
            <a:srgbClr val="F26B43"/>
          </p15:clr>
        </p15:guide>
        <p15:guide id="13" pos="5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D927_136C78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7FFFDAD7_B12C005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928_8E71048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7FFFDAD6_5BF9297E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AD1_257D428B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DAD4_81BD43D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AD5_4249F0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76F348A-138C-87BC-2E3E-0C50CB9086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74826" cy="6988635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F81036C9-E1AE-2F2F-7469-9835BE141B56}"/>
              </a:ext>
            </a:extLst>
          </p:cNvPr>
          <p:cNvSpPr/>
          <p:nvPr/>
        </p:nvSpPr>
        <p:spPr>
          <a:xfrm rot="5400000">
            <a:off x="2643094" y="-2643096"/>
            <a:ext cx="6988637" cy="1227482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0000">
                <a:schemeClr val="accent3">
                  <a:alpha val="30886"/>
                </a:schemeClr>
              </a:gs>
              <a:gs pos="18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>
              <a:latin typeface="Lexend Medium" pitchFamily="2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572081-E3DE-1020-ED2B-B2946CDD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solidFill>
                  <a:schemeClr val="bg1"/>
                </a:solidFill>
              </a:rPr>
              <a:t>Delivery 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C3FDB5-B354-7D5B-77FD-C889D9F4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41632"/>
          </a:xfrm>
        </p:spPr>
        <p:txBody>
          <a:bodyPr/>
          <a:lstStyle/>
          <a:p>
            <a:r>
              <a:rPr lang="nl-NL" noProof="0" dirty="0"/>
              <a:t>Bijstellen project &amp; Technische verzameling</a:t>
            </a:r>
            <a:endParaRPr lang="nl-NL" noProof="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7942D829-241E-9F52-802D-A26A37AFC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300" y="1438820"/>
            <a:ext cx="2422254" cy="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457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F39572C-F98C-9867-7BC9-EF1BE9954090}"/>
              </a:ext>
            </a:extLst>
          </p:cNvPr>
          <p:cNvGrpSpPr/>
          <p:nvPr/>
        </p:nvGrpSpPr>
        <p:grpSpPr>
          <a:xfrm>
            <a:off x="6928104" y="1969757"/>
            <a:ext cx="5101611" cy="392914"/>
            <a:chOff x="838200" y="1910998"/>
            <a:chExt cx="5101611" cy="392914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59452445-6A86-2EB8-DBF9-7A64B3B4CA5C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dirty="0">
                  <a:latin typeface="Lexend SemiBold" pitchFamily="2" charset="77"/>
                  <a:cs typeface="Montserrat" panose="00000500000000000000" pitchFamily="2" charset="0"/>
                </a:rPr>
                <a:t>Originele</a:t>
              </a: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 Projectplan</a:t>
              </a: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E44C57EC-D238-7C2F-A47F-3A7C88A6FD25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6DE157-14B0-D782-CA3A-D0205501F9E6}"/>
              </a:ext>
            </a:extLst>
          </p:cNvPr>
          <p:cNvGrpSpPr/>
          <p:nvPr/>
        </p:nvGrpSpPr>
        <p:grpSpPr>
          <a:xfrm>
            <a:off x="6928104" y="2549620"/>
            <a:ext cx="5101611" cy="392914"/>
            <a:chOff x="838200" y="1910998"/>
            <a:chExt cx="5101611" cy="392914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DCFDCC29-6515-BC76-6228-D8FC1EC288F4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Feedback projectrichting</a:t>
              </a: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E5DE833A-B7DC-DE50-22E6-EFE87951E658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96BDE-3ADF-9A00-2C01-6F666A2DB399}"/>
              </a:ext>
            </a:extLst>
          </p:cNvPr>
          <p:cNvGrpSpPr/>
          <p:nvPr/>
        </p:nvGrpSpPr>
        <p:grpSpPr>
          <a:xfrm>
            <a:off x="6928104" y="3174088"/>
            <a:ext cx="5101611" cy="392914"/>
            <a:chOff x="838200" y="1910998"/>
            <a:chExt cx="5101611" cy="392914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F129838E-9027-6B36-6F5B-E899F1A29F7D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dirty="0">
                  <a:latin typeface="Lexend SemiBold" pitchFamily="2" charset="77"/>
                  <a:cs typeface="Montserrat" panose="00000500000000000000" pitchFamily="2" charset="0"/>
                </a:rPr>
                <a:t>Bijstellingen</a:t>
              </a:r>
              <a:endParaRPr lang="nl-NL" sz="1800" noProof="0" dirty="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512C6DBA-BF04-7382-46D1-3457511A4906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F9071-5BB5-A3F2-F1BA-1C98F7C10458}"/>
              </a:ext>
            </a:extLst>
          </p:cNvPr>
          <p:cNvGrpSpPr/>
          <p:nvPr/>
        </p:nvGrpSpPr>
        <p:grpSpPr>
          <a:xfrm>
            <a:off x="6928104" y="3763949"/>
            <a:ext cx="5101611" cy="394068"/>
            <a:chOff x="838200" y="1909844"/>
            <a:chExt cx="5101611" cy="394068"/>
          </a:xfrm>
        </p:grpSpPr>
        <p:sp>
          <p:nvSpPr>
            <p:cNvPr id="30" name="Executive summary">
              <a:extLst>
                <a:ext uri="{FF2B5EF4-FFF2-40B4-BE49-F238E27FC236}">
                  <a16:creationId xmlns:a16="http://schemas.microsoft.com/office/drawing/2014/main" id="{EA66D309-FAED-4A92-E2F7-91F12F4CAA9E}"/>
                </a:ext>
              </a:extLst>
            </p:cNvPr>
            <p:cNvSpPr txBox="1"/>
            <p:nvPr/>
          </p:nvSpPr>
          <p:spPr>
            <a:xfrm>
              <a:off x="1273776" y="1909844"/>
              <a:ext cx="4666035" cy="3845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Technische data-verzameling</a:t>
              </a:r>
            </a:p>
          </p:txBody>
        </p:sp>
        <p:sp>
          <p:nvSpPr>
            <p:cNvPr id="31" name="01">
              <a:extLst>
                <a:ext uri="{FF2B5EF4-FFF2-40B4-BE49-F238E27FC236}">
                  <a16:creationId xmlns:a16="http://schemas.microsoft.com/office/drawing/2014/main" id="{7D4C6E1A-99DF-F94F-A1CD-07616149A093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0DB75C-A480-2C2B-9425-84CD77DAB6E1}"/>
              </a:ext>
            </a:extLst>
          </p:cNvPr>
          <p:cNvGrpSpPr/>
          <p:nvPr/>
        </p:nvGrpSpPr>
        <p:grpSpPr>
          <a:xfrm>
            <a:off x="6928104" y="4344966"/>
            <a:ext cx="5101611" cy="392914"/>
            <a:chOff x="838200" y="1910998"/>
            <a:chExt cx="5101611" cy="392914"/>
          </a:xfrm>
        </p:grpSpPr>
        <p:sp>
          <p:nvSpPr>
            <p:cNvPr id="33" name="Executive summary">
              <a:extLst>
                <a:ext uri="{FF2B5EF4-FFF2-40B4-BE49-F238E27FC236}">
                  <a16:creationId xmlns:a16="http://schemas.microsoft.com/office/drawing/2014/main" id="{E58F1C00-CAAA-30A2-9A13-C32A025DF428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Volgende sprint</a:t>
              </a:r>
            </a:p>
          </p:txBody>
        </p:sp>
        <p:sp>
          <p:nvSpPr>
            <p:cNvPr id="34" name="01">
              <a:extLst>
                <a:ext uri="{FF2B5EF4-FFF2-40B4-BE49-F238E27FC236}">
                  <a16:creationId xmlns:a16="http://schemas.microsoft.com/office/drawing/2014/main" id="{F374C842-D6CD-CABD-199D-CA237CC9AB8C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05</a:t>
              </a:r>
            </a:p>
          </p:txBody>
        </p:sp>
      </p:grp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FC8988D8-BAE9-7EE9-4276-69513CD08E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713512" cy="685799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gradient">
            <a:extLst>
              <a:ext uri="{FF2B5EF4-FFF2-40B4-BE49-F238E27FC236}">
                <a16:creationId xmlns:a16="http://schemas.microsoft.com/office/drawing/2014/main" id="{C97E0B6B-6D60-631E-608A-2DEDAF99B5A5}"/>
              </a:ext>
            </a:extLst>
          </p:cNvPr>
          <p:cNvSpPr/>
          <p:nvPr/>
        </p:nvSpPr>
        <p:spPr>
          <a:xfrm rot="5400000">
            <a:off x="-572245" y="572242"/>
            <a:ext cx="6858000" cy="5713514"/>
          </a:xfrm>
          <a:prstGeom prst="rect">
            <a:avLst/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98000">
                <a:schemeClr val="accent1"/>
              </a:gs>
              <a:gs pos="83000">
                <a:schemeClr val="accent1">
                  <a:alpha val="9525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>
              <a:latin typeface="Lexend Medium" pitchFamily="2" charset="77"/>
            </a:endParaRPr>
          </a:p>
        </p:txBody>
      </p:sp>
      <p:sp>
        <p:nvSpPr>
          <p:cNvPr id="11" name="Title 19">
            <a:extLst>
              <a:ext uri="{FF2B5EF4-FFF2-40B4-BE49-F238E27FC236}">
                <a16:creationId xmlns:a16="http://schemas.microsoft.com/office/drawing/2014/main" id="{4711FA0F-3828-BB5E-4D22-BAF1CD7A2CD4}"/>
              </a:ext>
            </a:extLst>
          </p:cNvPr>
          <p:cNvSpPr txBox="1">
            <a:spLocks/>
          </p:cNvSpPr>
          <p:nvPr/>
        </p:nvSpPr>
        <p:spPr>
          <a:xfrm>
            <a:off x="838200" y="2639204"/>
            <a:ext cx="4355592" cy="1579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nl-NL" sz="4400" noProof="0" dirty="0">
                <a:solidFill>
                  <a:schemeClr val="bg1"/>
                </a:solidFill>
                <a:latin typeface="Lexend Medium" pitchFamily="2" charset="77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422778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6000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6870828" y="1533382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Algemeen monitoring systeem 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6870828" y="2232177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Gericht naar support team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6870828" y="2930971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Veiligheid &amp; effectiviteit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6870828" y="3629765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Toekomstbestendig</a:t>
            </a: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6870828" y="4328560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Los van AMI</a:t>
            </a: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0B6C758A-C631-FB6E-3751-C2E31B363746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21907" y="635728"/>
            <a:ext cx="5184557" cy="5586546"/>
          </a:xfrm>
          <a:prstGeom prst="roundRect">
            <a:avLst>
              <a:gd name="adj" fmla="val 7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49000"/>
                  <a:lumOff val="51000"/>
                </a:schemeClr>
              </a:gs>
            </a:gsLst>
            <a:lin ang="189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sz="1600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A3AACC12-0863-5BB6-7D37-FB43F3993DDA}"/>
              </a:ext>
            </a:extLst>
          </p:cNvPr>
          <p:cNvSpPr txBox="1"/>
          <p:nvPr/>
        </p:nvSpPr>
        <p:spPr>
          <a:xfrm>
            <a:off x="1009152" y="1163048"/>
            <a:ext cx="4456466" cy="328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nl-NL" sz="3999" b="1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Originele Projectplan</a:t>
            </a:r>
          </a:p>
          <a:p>
            <a:pPr>
              <a:lnSpc>
                <a:spcPct val="100000"/>
              </a:lnSpc>
              <a:defRPr/>
            </a:pPr>
            <a:endParaRPr lang="nl-NL" sz="3999" dirty="0">
              <a:solidFill>
                <a:schemeClr val="tx1"/>
              </a:solidFill>
              <a:latin typeface="Lexend SemiBold" pitchFamily="2" charset="77"/>
              <a:cs typeface="Montserrat" panose="00000500000000000000" pitchFamily="2" charset="0"/>
            </a:endParaRPr>
          </a:p>
          <a:p>
            <a:pPr>
              <a:lnSpc>
                <a:spcPct val="100000"/>
              </a:lnSpc>
              <a:defRPr/>
            </a:pPr>
            <a:r>
              <a:rPr lang="nl-NL" sz="1800" b="1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Hoofdvraag: </a:t>
            </a:r>
          </a:p>
          <a:p>
            <a:pPr>
              <a:lnSpc>
                <a:spcPct val="100000"/>
              </a:lnSpc>
              <a:defRPr/>
            </a:pPr>
            <a:r>
              <a:rPr lang="nl-NL" sz="1800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Hoe kunnen de klantsystemen die door AmeXio beheerd worden zodanig worden gemonitord dat dit effectief en veilig is voor het supportteam?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45DE27F8-FDE5-3EE2-C5B2-5AFE618252C8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endParaRPr lang="nl-NL" sz="1000" noProof="0" dirty="0">
              <a:solidFill>
                <a:schemeClr val="bg1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7233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D471-ABBB-290D-1430-04CBEA08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D20DA09-07E8-FA76-B57E-DD6324E4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285859-02B0-7C87-F7E5-842AD9BEB5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nl-NL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Originele Projectplan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B5A562-574E-E46A-EFD7-1DB29FA08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00" y="1771824"/>
            <a:ext cx="12589793" cy="43100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B7F7AA-A223-9732-18DE-611A30A1E1CB}"/>
              </a:ext>
            </a:extLst>
          </p:cNvPr>
          <p:cNvSpPr/>
          <p:nvPr/>
        </p:nvSpPr>
        <p:spPr>
          <a:xfrm>
            <a:off x="0" y="0"/>
            <a:ext cx="12192000" cy="1285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OUD</a:t>
            </a:r>
          </a:p>
        </p:txBody>
      </p:sp>
    </p:spTree>
    <p:extLst>
      <p:ext uri="{BB962C8B-B14F-4D97-AF65-F5344CB8AC3E}">
        <p14:creationId xmlns:p14="http://schemas.microsoft.com/office/powerpoint/2010/main" val="2972450900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8A04F0F1-BDFD-8604-5C4C-8FF801609109}"/>
              </a:ext>
            </a:extLst>
          </p:cNvPr>
          <p:cNvSpPr txBox="1"/>
          <p:nvPr/>
        </p:nvSpPr>
        <p:spPr>
          <a:xfrm>
            <a:off x="1009152" y="1163048"/>
            <a:ext cx="4456466" cy="147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nl-NL" sz="4000" b="1" dirty="0">
                <a:latin typeface="Lexend Medium" pitchFamily="2" charset="77"/>
                <a:cs typeface="Montserrat" panose="00000500000000000000" pitchFamily="2" charset="0"/>
              </a:rPr>
              <a:t>Feedback projectrichting</a:t>
            </a: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CE7345-EAA0-F3B0-5E54-1BFF90CBD552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 lvl="0">
              <a:defRPr/>
            </a:pPr>
            <a:endParaRPr kumimoji="0" lang="nl-NL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</a:endParaRPr>
          </a:p>
        </p:txBody>
      </p:sp>
      <p:sp>
        <p:nvSpPr>
          <p:cNvPr id="3" name="Transparency Work">
            <a:extLst>
              <a:ext uri="{FF2B5EF4-FFF2-40B4-BE49-F238E27FC236}">
                <a16:creationId xmlns:a16="http://schemas.microsoft.com/office/drawing/2014/main" id="{101B3F5A-E84F-FD79-1D83-57C9CA9F18A4}"/>
              </a:ext>
            </a:extLst>
          </p:cNvPr>
          <p:cNvSpPr txBox="1"/>
          <p:nvPr/>
        </p:nvSpPr>
        <p:spPr>
          <a:xfrm>
            <a:off x="6870828" y="1533382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Geen losstaand systeem</a:t>
            </a:r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6F62FE25-B436-7D2C-F196-5AAD10E5EA2A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6" name="Creating a Powerful High-Trust Team">
            <a:extLst>
              <a:ext uri="{FF2B5EF4-FFF2-40B4-BE49-F238E27FC236}">
                <a16:creationId xmlns:a16="http://schemas.microsoft.com/office/drawing/2014/main" id="{7EACAD4D-8421-3C88-B038-8F296D10C191}"/>
              </a:ext>
            </a:extLst>
          </p:cNvPr>
          <p:cNvSpPr txBox="1"/>
          <p:nvPr/>
        </p:nvSpPr>
        <p:spPr>
          <a:xfrm>
            <a:off x="6870828" y="2232177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AMI als centraal platform</a:t>
            </a: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5CA55352-8FF2-651E-66A5-028437EC649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9" name="Make a Difference Every Day">
            <a:extLst>
              <a:ext uri="{FF2B5EF4-FFF2-40B4-BE49-F238E27FC236}">
                <a16:creationId xmlns:a16="http://schemas.microsoft.com/office/drawing/2014/main" id="{B02BB782-6C81-246F-E297-337DF6DA32FF}"/>
              </a:ext>
            </a:extLst>
          </p:cNvPr>
          <p:cNvSpPr txBox="1"/>
          <p:nvPr/>
        </p:nvSpPr>
        <p:spPr>
          <a:xfrm>
            <a:off x="6870828" y="2792472"/>
            <a:ext cx="4062942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Focus op performance-data &amp; OpenTelemetry</a:t>
            </a: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3AE24852-B567-F939-30E0-219AA3D9348A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11" name="Customer first">
            <a:extLst>
              <a:ext uri="{FF2B5EF4-FFF2-40B4-BE49-F238E27FC236}">
                <a16:creationId xmlns:a16="http://schemas.microsoft.com/office/drawing/2014/main" id="{BEAB16A2-E1B5-5903-D635-B352FB85B5D5}"/>
              </a:ext>
            </a:extLst>
          </p:cNvPr>
          <p:cNvSpPr txBox="1"/>
          <p:nvPr/>
        </p:nvSpPr>
        <p:spPr>
          <a:xfrm>
            <a:off x="6870828" y="3629765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business-samenvatting</a:t>
            </a: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EC8F16E5-E4DC-0C6B-E7C1-4C1C13359403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71405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3ECF-1DDF-43D7-C15D-A8766A4D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7BEAA54-9D31-AE83-1034-3D8AC124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2C6DE5-D951-6251-858B-02DC12E6AA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nl-NL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Originele Projectplan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AA2699-3B6F-A0A1-0BF2-621002DE1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00" y="1771824"/>
            <a:ext cx="12589793" cy="43100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B6B00E-1B24-D71D-D861-2451FCC07969}"/>
              </a:ext>
            </a:extLst>
          </p:cNvPr>
          <p:cNvSpPr/>
          <p:nvPr/>
        </p:nvSpPr>
        <p:spPr>
          <a:xfrm>
            <a:off x="0" y="0"/>
            <a:ext cx="12192000" cy="1285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OUD</a:t>
            </a:r>
          </a:p>
        </p:txBody>
      </p:sp>
    </p:spTree>
    <p:extLst>
      <p:ext uri="{BB962C8B-B14F-4D97-AF65-F5344CB8AC3E}">
        <p14:creationId xmlns:p14="http://schemas.microsoft.com/office/powerpoint/2010/main" val="1543055742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A4F6-AD97-B33D-9808-E44DD872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9BCA43-CF07-15B7-737C-23545772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67FAAC-98C0-869B-C1DC-02FAFC78038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nl-NL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Na de bijstellingen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E34380-065B-3B9B-1309-C35D86758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38"/>
            <a:ext cx="12192000" cy="65601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6B3A6A-7722-FDBA-0D9F-2C4CB7AF24FC}"/>
              </a:ext>
            </a:extLst>
          </p:cNvPr>
          <p:cNvSpPr/>
          <p:nvPr/>
        </p:nvSpPr>
        <p:spPr>
          <a:xfrm>
            <a:off x="0" y="0"/>
            <a:ext cx="12192000" cy="1285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Bijgesteld</a:t>
            </a:r>
          </a:p>
        </p:txBody>
      </p:sp>
    </p:spTree>
    <p:extLst>
      <p:ext uri="{BB962C8B-B14F-4D97-AF65-F5344CB8AC3E}">
        <p14:creationId xmlns:p14="http://schemas.microsoft.com/office/powerpoint/2010/main" val="25246508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D118-57A4-F1E2-088F-C5F1803A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5CF7EFFB-E192-BB6E-2B8F-EE679B089CFB}"/>
              </a:ext>
            </a:extLst>
          </p:cNvPr>
          <p:cNvSpPr/>
          <p:nvPr/>
        </p:nvSpPr>
        <p:spPr>
          <a:xfrm>
            <a:off x="6096000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A96AEED4-9A9E-86A8-C4B1-F130EBE5ECFE}"/>
              </a:ext>
            </a:extLst>
          </p:cNvPr>
          <p:cNvSpPr txBox="1"/>
          <p:nvPr/>
        </p:nvSpPr>
        <p:spPr>
          <a:xfrm>
            <a:off x="6870828" y="1533382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Algemeen monitoring systeem 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D6703010-E82C-9ED9-9C6B-CAC4A71806FE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F809820E-675F-1ED4-7EB9-DD479B01B480}"/>
              </a:ext>
            </a:extLst>
          </p:cNvPr>
          <p:cNvSpPr txBox="1"/>
          <p:nvPr/>
        </p:nvSpPr>
        <p:spPr>
          <a:xfrm>
            <a:off x="6870828" y="2232177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latin typeface="Lexend SemiBold" pitchFamily="2" charset="77"/>
                <a:cs typeface="Montserrat" panose="00000500000000000000" pitchFamily="2" charset="0"/>
              </a:rPr>
              <a:t>Focus op technische uitwerking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890C4908-7AC2-1076-C28A-8153D63760E7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DEFFFA85-9FF6-F957-A23E-D9E70BDFADD5}"/>
              </a:ext>
            </a:extLst>
          </p:cNvPr>
          <p:cNvSpPr txBox="1"/>
          <p:nvPr/>
        </p:nvSpPr>
        <p:spPr>
          <a:xfrm>
            <a:off x="6870828" y="2930971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latin typeface="Lexend SemiBold" pitchFamily="2" charset="77"/>
                <a:cs typeface="Montserrat" panose="00000500000000000000" pitchFamily="2" charset="0"/>
              </a:rPr>
              <a:t>Opslag, verwerking en verzameling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C15EA6B1-FE66-5485-6FEB-475C9562928A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FC7A659C-E0E9-B45F-6237-9121C64A7DBB}"/>
              </a:ext>
            </a:extLst>
          </p:cNvPr>
          <p:cNvSpPr txBox="1"/>
          <p:nvPr/>
        </p:nvSpPr>
        <p:spPr>
          <a:xfrm>
            <a:off x="6870828" y="3629765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Veilig </a:t>
            </a:r>
            <a:r>
              <a:rPr lang="nl-NL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&amp; </a:t>
            </a: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Toekomstbestendig</a:t>
            </a: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6F3569EA-9C50-3E1F-47B6-D19201129092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16D89E64-FB03-7417-6552-6C865653CE2B}"/>
              </a:ext>
            </a:extLst>
          </p:cNvPr>
          <p:cNvSpPr txBox="1"/>
          <p:nvPr/>
        </p:nvSpPr>
        <p:spPr>
          <a:xfrm>
            <a:off x="6870828" y="4328560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Geen directe AMI integratie</a:t>
            </a: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2E5AFF65-9FD5-B1B8-F25A-8E2AF0399BA3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AE4CCA8D-6B93-07B6-C233-1E0295452DF9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49000"/>
                  <a:lumOff val="51000"/>
                </a:schemeClr>
              </a:gs>
            </a:gsLst>
            <a:lin ang="189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sz="1600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hink Big">
            <a:extLst>
              <a:ext uri="{FF2B5EF4-FFF2-40B4-BE49-F238E27FC236}">
                <a16:creationId xmlns:a16="http://schemas.microsoft.com/office/drawing/2014/main" id="{E9FAB7D2-077D-67AC-7A2F-4ECB3D534870}"/>
              </a:ext>
            </a:extLst>
          </p:cNvPr>
          <p:cNvSpPr txBox="1"/>
          <p:nvPr/>
        </p:nvSpPr>
        <p:spPr>
          <a:xfrm>
            <a:off x="6870828" y="5064313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endParaRPr lang="nl-NL" kern="0" noProof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A39881A0-5E89-A607-1420-BC5E5495D809}"/>
              </a:ext>
            </a:extLst>
          </p:cNvPr>
          <p:cNvSpPr txBox="1"/>
          <p:nvPr/>
        </p:nvSpPr>
        <p:spPr>
          <a:xfrm>
            <a:off x="1009152" y="1163048"/>
            <a:ext cx="4456466" cy="2667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nl-NL" sz="3999" b="1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Nieuwe Focus</a:t>
            </a:r>
          </a:p>
          <a:p>
            <a:pPr>
              <a:lnSpc>
                <a:spcPct val="100000"/>
              </a:lnSpc>
              <a:defRPr/>
            </a:pPr>
            <a:endParaRPr lang="nl-NL" sz="3999" noProof="0" dirty="0">
              <a:solidFill>
                <a:schemeClr val="tx1"/>
              </a:solidFill>
              <a:latin typeface="Lexend SemiBold" pitchFamily="2" charset="77"/>
              <a:cs typeface="Montserrat" panose="00000500000000000000" pitchFamily="2" charset="0"/>
            </a:endParaRPr>
          </a:p>
          <a:p>
            <a:pPr>
              <a:lnSpc>
                <a:spcPct val="100000"/>
              </a:lnSpc>
              <a:defRPr/>
            </a:pPr>
            <a:r>
              <a:rPr lang="nl-NL" sz="1800" b="1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Hoofdvraag:</a:t>
            </a:r>
          </a:p>
          <a:p>
            <a:pPr>
              <a:lnSpc>
                <a:spcPct val="100000"/>
              </a:lnSpc>
              <a:defRPr/>
            </a:pPr>
            <a:r>
              <a:rPr lang="nl-NL" sz="1800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Hoe kan een veilige monitoringsoplossing worden ontwikkeld die monitoringdata uit klantsystemen verzamelt, verwerkt, opslaat en beschikbaar maakt voor analyse?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261A449A-A222-BEFD-CE10-8159C476742A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endParaRPr lang="nl-NL" sz="1000" noProof="0" dirty="0">
              <a:solidFill>
                <a:schemeClr val="bg1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966027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87E33C-035C-C497-4A10-FD544E2C9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970065"/>
              </p:ext>
            </p:extLst>
          </p:nvPr>
        </p:nvGraphicFramePr>
        <p:xfrm>
          <a:off x="679451" y="990601"/>
          <a:ext cx="10833098" cy="5867399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5097928">
                  <a:extLst>
                    <a:ext uri="{9D8B030D-6E8A-4147-A177-3AD203B41FA5}">
                      <a16:colId xmlns:a16="http://schemas.microsoft.com/office/drawing/2014/main" val="966012529"/>
                    </a:ext>
                  </a:extLst>
                </a:gridCol>
                <a:gridCol w="5735170">
                  <a:extLst>
                    <a:ext uri="{9D8B030D-6E8A-4147-A177-3AD203B41FA5}">
                      <a16:colId xmlns:a16="http://schemas.microsoft.com/office/drawing/2014/main" val="2980302463"/>
                    </a:ext>
                  </a:extLst>
                </a:gridCol>
              </a:tblGrid>
              <a:tr h="571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 b="1" dirty="0"/>
                        <a:t>Oude hoofvraag / deelvraag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 b="1" dirty="0"/>
                        <a:t>Nieuwe hoofvraag / deelvraag</a:t>
                      </a:r>
                      <a:endParaRPr lang="nl-NL" sz="1400" dirty="0"/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384345835"/>
                  </a:ext>
                </a:extLst>
              </a:tr>
              <a:tr h="91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 b="1" dirty="0"/>
                        <a:t>Hoofdvraag:</a:t>
                      </a:r>
                      <a:r>
                        <a:rPr lang="nl-NL" sz="1400" dirty="0"/>
                        <a:t> Hoe kunnen de klantsystemen die door AmeXio beheerd worden zodanig worden gemonitord dat dit effectief en veilig is voor het supportteam?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 b="1" dirty="0"/>
                        <a:t>Hoofdvraag:</a:t>
                      </a:r>
                      <a:r>
                        <a:rPr lang="nl-NL" sz="1400" dirty="0"/>
                        <a:t> Hoe kan een veilige monitoringsoplossing worden ontwikkeld die monitoringdata uit klantsystemen verzamelt, verwerkt, opslaat en beschikbaar maakt voor analyse?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593997839"/>
                  </a:ext>
                </a:extLst>
              </a:tr>
              <a:tr h="701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Welke systemen en processen zijn het meest kritisch om te monitoren?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Welke typen monitoringdata zijn relevant om te verzamelen?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710282442"/>
                  </a:ext>
                </a:extLst>
              </a:tr>
              <a:tr h="68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Welke veiligheids- en privacyaspecten spelen een rol bij het verzamelen en verwerken van monitoringdata?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Welke veiligheids- en privacyaspecten spelen een rol bij het verzamelen en verwerken van monitoringdata?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672406721"/>
                  </a:ext>
                </a:extLst>
              </a:tr>
              <a:tr h="701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Welke tools zijn geschikt voor het verzamelen, verwerken, opslaan en visualiseren van functionele en prestatiegerichte data binnen AmeXio?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(Wordt per deelvraag verwerkt, geen aparte vraag meer)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630563583"/>
                  </a:ext>
                </a:extLst>
              </a:tr>
              <a:tr h="466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de benodigde monitoringdata technisch worden verzameld uit de systemen?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de benodigde monitoringdata technisch worden verzameld uit de systemen?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746853540"/>
                  </a:ext>
                </a:extLst>
              </a:tr>
              <a:tr h="551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het supportteam bepalen welke data relevant is en welke ruis oplevert?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de monitoringdata worden gefilterd en verwerkt?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3108203217"/>
                  </a:ext>
                </a:extLst>
              </a:tr>
              <a:tr h="47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de verzamelde data worden verwerkt en doorgegeven binnen de infrastructuur?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de verwerkte monitoringdata worden opgeslagen?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519065459"/>
                  </a:ext>
                </a:extLst>
              </a:tr>
              <a:tr h="797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/>
                        <a:t>Hoe kan monitoringdata overzichtelijk en begrijpelijk worden gepresenteerd voor het supportteam, zodat snel actie kan worden ondernomen?</a:t>
                      </a:r>
                    </a:p>
                  </a:txBody>
                  <a:tcPr marL="22315" marR="22315" marT="11157" marB="111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400" dirty="0"/>
                        <a:t>Hoe kan monitoringdata beschikbaar en begrijpelijk worden gemaakt voor analyse?</a:t>
                      </a:r>
                    </a:p>
                  </a:txBody>
                  <a:tcPr marL="22315" marR="22315" marT="11157" marB="11157" anchor="ctr"/>
                </a:tc>
                <a:extLst>
                  <a:ext uri="{0D108BD9-81ED-4DB2-BD59-A6C34878D82A}">
                    <a16:rowId xmlns:a16="http://schemas.microsoft.com/office/drawing/2014/main" val="1383136406"/>
                  </a:ext>
                </a:extLst>
              </a:tr>
            </a:tbl>
          </a:graphicData>
        </a:graphic>
      </p:graphicFrame>
      <p:sp>
        <p:nvSpPr>
          <p:cNvPr id="6" name="Title 8">
            <a:extLst>
              <a:ext uri="{FF2B5EF4-FFF2-40B4-BE49-F238E27FC236}">
                <a16:creationId xmlns:a16="http://schemas.microsoft.com/office/drawing/2014/main" id="{73BC5CAF-E0E7-7378-AF9D-63AB3FD37387}"/>
              </a:ext>
            </a:extLst>
          </p:cNvPr>
          <p:cNvSpPr txBox="1">
            <a:spLocks/>
          </p:cNvSpPr>
          <p:nvPr/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accent1"/>
                </a:solidFill>
                <a:latin typeface="Lexend Medium" pitchFamily="2" charset="77"/>
                <a:ea typeface="+mj-ea"/>
                <a:cs typeface="+mj-cs"/>
              </a:defRPr>
            </a:lvl1pPr>
          </a:lstStyle>
          <a:p>
            <a:r>
              <a:rPr lang="nl-NL" dirty="0"/>
              <a:t>Bijstellingen research vragen</a:t>
            </a:r>
          </a:p>
        </p:txBody>
      </p:sp>
    </p:spTree>
    <p:extLst>
      <p:ext uri="{BB962C8B-B14F-4D97-AF65-F5344CB8AC3E}">
        <p14:creationId xmlns:p14="http://schemas.microsoft.com/office/powerpoint/2010/main" val="2176664537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5145437" y="635728"/>
            <a:ext cx="6132164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5973485" y="168536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Implementatie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 met Java Agent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5465618" y="1628761"/>
            <a:ext cx="349159" cy="349160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5973485" y="2384162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Monitoring tools van OpenText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5465618" y="2327555"/>
            <a:ext cx="349159" cy="349160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5973485" y="3082956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lvl="0"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Pull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methode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aan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de hand van Collector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5465618" y="3026350"/>
            <a:ext cx="349159" cy="349160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5973485" y="3781750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lvl="0"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Log-, metric-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en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trace-files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5465618" y="3725144"/>
            <a:ext cx="349159" cy="349160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5973485" y="4480545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4209379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hink Big">
            <a:extLst>
              <a:ext uri="{FF2B5EF4-FFF2-40B4-BE49-F238E27FC236}">
                <a16:creationId xmlns:a16="http://schemas.microsoft.com/office/drawing/2014/main" id="{FDEA121A-FAF4-1026-EED3-2931440AFEE0}"/>
              </a:ext>
            </a:extLst>
          </p:cNvPr>
          <p:cNvSpPr txBox="1"/>
          <p:nvPr/>
        </p:nvSpPr>
        <p:spPr>
          <a:xfrm>
            <a:off x="5973485" y="5216298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8A04F0F1-BDFD-8604-5C4C-8FF801609109}"/>
              </a:ext>
            </a:extLst>
          </p:cNvPr>
          <p:cNvSpPr txBox="1"/>
          <p:nvPr/>
        </p:nvSpPr>
        <p:spPr>
          <a:xfrm>
            <a:off x="914399" y="1162275"/>
            <a:ext cx="4456466" cy="128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solidFill>
                  <a:srgbClr val="D9E8F5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Technische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D9E8F5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D9E8F5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data-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solidFill>
                  <a:srgbClr val="D9E8F5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verzameling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D9E8F5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F074264B-2858-5149-4118-812CF02DCC26}"/>
              </a:ext>
            </a:extLst>
          </p:cNvPr>
          <p:cNvSpPr txBox="1"/>
          <p:nvPr/>
        </p:nvSpPr>
        <p:spPr>
          <a:xfrm>
            <a:off x="1009152" y="2527743"/>
            <a:ext cx="4456466" cy="29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9E8F5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CE7345-EAA0-F3B0-5E54-1BFF90CBD552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</a:endParaRP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C324CB9-1707-1E1F-A7D5-B1FE20940E12}"/>
              </a:ext>
            </a:extLst>
          </p:cNvPr>
          <p:cNvSpPr/>
          <p:nvPr/>
        </p:nvSpPr>
        <p:spPr>
          <a:xfrm rot="2673057">
            <a:off x="5535964" y="1697272"/>
            <a:ext cx="210368" cy="212136"/>
          </a:xfrm>
          <a:prstGeom prst="plus">
            <a:avLst>
              <a:gd name="adj" fmla="val 4009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A2B31EEC-E559-882F-5F57-CB4E802782A8}"/>
              </a:ext>
            </a:extLst>
          </p:cNvPr>
          <p:cNvSpPr/>
          <p:nvPr/>
        </p:nvSpPr>
        <p:spPr>
          <a:xfrm rot="2673057">
            <a:off x="5535013" y="2396066"/>
            <a:ext cx="210368" cy="212136"/>
          </a:xfrm>
          <a:prstGeom prst="plus">
            <a:avLst>
              <a:gd name="adj" fmla="val 4009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221A73-E05A-97BB-9D54-3E0F4B034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234" y="3526997"/>
            <a:ext cx="3115241" cy="249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8865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9E92-AD86-8792-8ADE-A73595C3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7EBE5B-1332-96EB-24B8-B9082309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OpenTelemetry Pull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6CDBC8-421E-6FA3-A4E1-52D97696245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nl-NL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Na de bijstellingen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2D17D9-3C9A-D3E4-3A14-5A429BF74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64"/>
          <a:stretch>
            <a:fillRect/>
          </a:stretch>
        </p:blipFill>
        <p:spPr>
          <a:xfrm>
            <a:off x="2282124" y="-1538631"/>
            <a:ext cx="8333117" cy="83130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0ADB1F-21EA-DBD2-B94A-86E07496D05B}"/>
              </a:ext>
            </a:extLst>
          </p:cNvPr>
          <p:cNvSpPr/>
          <p:nvPr/>
        </p:nvSpPr>
        <p:spPr>
          <a:xfrm>
            <a:off x="0" y="0"/>
            <a:ext cx="12192000" cy="1285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6600" b="1" dirty="0">
                <a:solidFill>
                  <a:srgbClr val="FFFFFF"/>
                </a:solidFill>
                <a:latin typeface="Montserrat"/>
              </a:rPr>
              <a:t>Pull methode</a:t>
            </a:r>
            <a:endParaRPr kumimoji="0" lang="nl-NL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19513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AB191C34-D0EE-BCBE-2AD1-68ECF4BD56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noProof="0" dirty="0"/>
              <a:t>Voorstel</a:t>
            </a:r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9592220A-67DC-5D04-B9EF-644A09F5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b="1" noProof="0" dirty="0"/>
              <a:t>Volgende Sprint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499114B-ACF5-A2F9-D166-F51C9A2E1691}"/>
              </a:ext>
            </a:extLst>
          </p:cNvPr>
          <p:cNvCxnSpPr>
            <a:cxnSpLocks/>
            <a:stCxn id="117" idx="6"/>
            <a:endCxn id="119" idx="2"/>
          </p:cNvCxnSpPr>
          <p:nvPr/>
        </p:nvCxnSpPr>
        <p:spPr>
          <a:xfrm>
            <a:off x="2794031" y="2452488"/>
            <a:ext cx="5742389" cy="0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E714EFFE-455C-165B-E37F-8FE2B3948390}"/>
              </a:ext>
            </a:extLst>
          </p:cNvPr>
          <p:cNvSpPr/>
          <p:nvPr/>
        </p:nvSpPr>
        <p:spPr>
          <a:xfrm>
            <a:off x="2560712" y="2335829"/>
            <a:ext cx="233319" cy="23331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116CEE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E193920-17F7-8100-E315-3F2EEF9CD873}"/>
              </a:ext>
            </a:extLst>
          </p:cNvPr>
          <p:cNvSpPr/>
          <p:nvPr/>
        </p:nvSpPr>
        <p:spPr>
          <a:xfrm>
            <a:off x="8536420" y="2335829"/>
            <a:ext cx="233319" cy="23331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116CEE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29" name="2021">
            <a:extLst>
              <a:ext uri="{FF2B5EF4-FFF2-40B4-BE49-F238E27FC236}">
                <a16:creationId xmlns:a16="http://schemas.microsoft.com/office/drawing/2014/main" id="{9A017046-86A0-C4C2-CA29-A91046F17188}"/>
              </a:ext>
            </a:extLst>
          </p:cNvPr>
          <p:cNvSpPr txBox="1"/>
          <p:nvPr/>
        </p:nvSpPr>
        <p:spPr>
          <a:xfrm>
            <a:off x="1723950" y="2733538"/>
            <a:ext cx="3323865" cy="56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b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800" b="1" dirty="0">
                <a:solidFill>
                  <a:srgbClr val="000000"/>
                </a:solidFill>
                <a:latin typeface="Lexend SemiBold" pitchFamily="2" charset="77"/>
                <a:cs typeface="Montserrat" panose="00000500000000000000" pitchFamily="2" charset="0"/>
              </a:rPr>
              <a:t>Implementatie</a:t>
            </a:r>
            <a:endParaRPr kumimoji="0" lang="nl-NL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130" name="Firstly we will do this">
            <a:extLst>
              <a:ext uri="{FF2B5EF4-FFF2-40B4-BE49-F238E27FC236}">
                <a16:creationId xmlns:a16="http://schemas.microsoft.com/office/drawing/2014/main" id="{F97BD595-9B98-81C7-CD97-1BD3C8C6A413}"/>
              </a:ext>
            </a:extLst>
          </p:cNvPr>
          <p:cNvSpPr txBox="1"/>
          <p:nvPr/>
        </p:nvSpPr>
        <p:spPr>
          <a:xfrm>
            <a:off x="1723950" y="3347438"/>
            <a:ext cx="4372049" cy="1343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OTEL collector aansluiten op OTCM testomgeving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800" dirty="0">
                <a:solidFill>
                  <a:srgbClr val="000000"/>
                </a:solidFill>
                <a:latin typeface="Lexend Medium" pitchFamily="2" charset="77"/>
                <a:cs typeface="Montserrat" panose="00000500000000000000" pitchFamily="2" charset="0"/>
              </a:rPr>
              <a:t>Collector data verwerking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5" name="2021">
            <a:extLst>
              <a:ext uri="{FF2B5EF4-FFF2-40B4-BE49-F238E27FC236}">
                <a16:creationId xmlns:a16="http://schemas.microsoft.com/office/drawing/2014/main" id="{2B4A0D64-265E-2288-70EB-2B4309490B5A}"/>
              </a:ext>
            </a:extLst>
          </p:cNvPr>
          <p:cNvSpPr txBox="1"/>
          <p:nvPr/>
        </p:nvSpPr>
        <p:spPr>
          <a:xfrm>
            <a:off x="7530501" y="2736527"/>
            <a:ext cx="3323865" cy="56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b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Documenteren</a:t>
            </a:r>
          </a:p>
        </p:txBody>
      </p:sp>
      <p:sp>
        <p:nvSpPr>
          <p:cNvPr id="6" name="Firstly we will do this">
            <a:extLst>
              <a:ext uri="{FF2B5EF4-FFF2-40B4-BE49-F238E27FC236}">
                <a16:creationId xmlns:a16="http://schemas.microsoft.com/office/drawing/2014/main" id="{731415C4-06CF-E69E-7D7D-F729497C18D9}"/>
              </a:ext>
            </a:extLst>
          </p:cNvPr>
          <p:cNvSpPr txBox="1"/>
          <p:nvPr/>
        </p:nvSpPr>
        <p:spPr>
          <a:xfrm>
            <a:off x="7530501" y="3350427"/>
            <a:ext cx="3384456" cy="913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Research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800" dirty="0">
                <a:solidFill>
                  <a:srgbClr val="000000"/>
                </a:solidFill>
                <a:latin typeface="Lexend Medium" pitchFamily="2" charset="77"/>
                <a:cs typeface="Montserrat" panose="00000500000000000000" pitchFamily="2" charset="0"/>
              </a:rPr>
              <a:t>Implementatie</a:t>
            </a:r>
          </a:p>
        </p:txBody>
      </p:sp>
    </p:spTree>
    <p:extLst>
      <p:ext uri="{BB962C8B-B14F-4D97-AF65-F5344CB8AC3E}">
        <p14:creationId xmlns:p14="http://schemas.microsoft.com/office/powerpoint/2010/main" val="3600897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DC2577AF-E4DD-2809-31E5-A62687CBCD6A}"/>
              </a:ext>
            </a:extLst>
          </p:cNvPr>
          <p:cNvSpPr txBox="1"/>
          <p:nvPr/>
        </p:nvSpPr>
        <p:spPr>
          <a:xfrm>
            <a:off x="634834" y="2787966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98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Vragen</a:t>
            </a:r>
            <a:r>
              <a:rPr kumimoji="0" lang="en-US" sz="799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973076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meXio Light">
  <a:themeElements>
    <a:clrScheme name="AmeXi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84771"/>
      </a:accent1>
      <a:accent2>
        <a:srgbClr val="D9E8F5"/>
      </a:accent2>
      <a:accent3>
        <a:srgbClr val="ED6C24"/>
      </a:accent3>
      <a:accent4>
        <a:srgbClr val="0A1C35"/>
      </a:accent4>
      <a:accent5>
        <a:srgbClr val="86ABD3"/>
      </a:accent5>
      <a:accent6>
        <a:srgbClr val="FFC155"/>
      </a:accent6>
      <a:hlink>
        <a:srgbClr val="EC6B23"/>
      </a:hlink>
      <a:folHlink>
        <a:srgbClr val="85ABD3"/>
      </a:folHlink>
    </a:clrScheme>
    <a:fontScheme name="Acolad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E8C6467-3FCF-45E2-823E-13D0C05D5583}" vid="{4BD5CE26-D102-4123-A983-D0D4390B1666}"/>
    </a:ext>
  </a:extLst>
</a:theme>
</file>

<file path=ppt/theme/theme3.xml><?xml version="1.0" encoding="utf-8"?>
<a:theme xmlns:a="http://schemas.openxmlformats.org/drawingml/2006/main" name="AmeXio Dark">
  <a:themeElements>
    <a:clrScheme name="AmeXi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84771"/>
      </a:accent1>
      <a:accent2>
        <a:srgbClr val="D9E8F5"/>
      </a:accent2>
      <a:accent3>
        <a:srgbClr val="ED6C24"/>
      </a:accent3>
      <a:accent4>
        <a:srgbClr val="0A1C35"/>
      </a:accent4>
      <a:accent5>
        <a:srgbClr val="86ABD3"/>
      </a:accent5>
      <a:accent6>
        <a:srgbClr val="FFC155"/>
      </a:accent6>
      <a:hlink>
        <a:srgbClr val="EC6B23"/>
      </a:hlink>
      <a:folHlink>
        <a:srgbClr val="85ABD3"/>
      </a:folHlink>
    </a:clrScheme>
    <a:fontScheme name="Acolad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E8C6467-3FCF-45E2-823E-13D0C05D5583}" vid="{A6A3F37D-F7DE-4554-A0FE-9B8FD0B8E3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meXio">
    <a:dk1>
      <a:srgbClr val="000000"/>
    </a:dk1>
    <a:lt1>
      <a:srgbClr val="FFFFFF"/>
    </a:lt1>
    <a:dk2>
      <a:srgbClr val="000000"/>
    </a:dk2>
    <a:lt2>
      <a:srgbClr val="FFFFFF"/>
    </a:lt2>
    <a:accent1>
      <a:srgbClr val="084771"/>
    </a:accent1>
    <a:accent2>
      <a:srgbClr val="D9E8F5"/>
    </a:accent2>
    <a:accent3>
      <a:srgbClr val="ED6C24"/>
    </a:accent3>
    <a:accent4>
      <a:srgbClr val="0A1C35"/>
    </a:accent4>
    <a:accent5>
      <a:srgbClr val="86ABD3"/>
    </a:accent5>
    <a:accent6>
      <a:srgbClr val="FFC155"/>
    </a:accent6>
    <a:hlink>
      <a:srgbClr val="EC6B23"/>
    </a:hlink>
    <a:folHlink>
      <a:srgbClr val="85ABD3"/>
    </a:folHlink>
  </a:clrScheme>
</a:themeOverride>
</file>

<file path=ppt/theme/themeOverride2.xml><?xml version="1.0" encoding="utf-8"?>
<a:themeOverride xmlns:a="http://schemas.openxmlformats.org/drawingml/2006/main">
  <a:clrScheme name="AmeXio">
    <a:dk1>
      <a:srgbClr val="000000"/>
    </a:dk1>
    <a:lt1>
      <a:srgbClr val="FFFFFF"/>
    </a:lt1>
    <a:dk2>
      <a:srgbClr val="000000"/>
    </a:dk2>
    <a:lt2>
      <a:srgbClr val="FFFFFF"/>
    </a:lt2>
    <a:accent1>
      <a:srgbClr val="084771"/>
    </a:accent1>
    <a:accent2>
      <a:srgbClr val="D9E8F5"/>
    </a:accent2>
    <a:accent3>
      <a:srgbClr val="ED6C24"/>
    </a:accent3>
    <a:accent4>
      <a:srgbClr val="0A1C35"/>
    </a:accent4>
    <a:accent5>
      <a:srgbClr val="86ABD3"/>
    </a:accent5>
    <a:accent6>
      <a:srgbClr val="FFC155"/>
    </a:accent6>
    <a:hlink>
      <a:srgbClr val="EC6B23"/>
    </a:hlink>
    <a:folHlink>
      <a:srgbClr val="85AB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434</Words>
  <Application>Microsoft Office PowerPoint</Application>
  <PresentationFormat>Widescreen</PresentationFormat>
  <Paragraphs>93</Paragraphs>
  <Slides>13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Lexend Light</vt:lpstr>
      <vt:lpstr>Lexend Medium</vt:lpstr>
      <vt:lpstr>Lexend SemiBold</vt:lpstr>
      <vt:lpstr>Montserrat</vt:lpstr>
      <vt:lpstr>Office Theme</vt:lpstr>
      <vt:lpstr>AmeXio Light</vt:lpstr>
      <vt:lpstr>AmeXio Dark</vt:lpstr>
      <vt:lpstr>Delivery 3</vt:lpstr>
      <vt:lpstr>PowerPoint Presentation</vt:lpstr>
      <vt:lpstr>PowerPoint Presentation</vt:lpstr>
      <vt:lpstr>Design</vt:lpstr>
      <vt:lpstr>PowerPoint Presentation</vt:lpstr>
      <vt:lpstr>Design</vt:lpstr>
      <vt:lpstr>Design</vt:lpstr>
      <vt:lpstr>PowerPoint Presentation</vt:lpstr>
      <vt:lpstr>PowerPoint Presentation</vt:lpstr>
      <vt:lpstr>PowerPoint Presentation</vt:lpstr>
      <vt:lpstr>OpenTelemetry Pull</vt:lpstr>
      <vt:lpstr>Volgende Sprint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Verkuijlen,Bram A.G.M.</dc:creator>
  <cp:lastModifiedBy>Bram Verkuijlen</cp:lastModifiedBy>
  <cp:revision>31</cp:revision>
  <dcterms:created xsi:type="dcterms:W3CDTF">2025-09-26T11:13:52Z</dcterms:created>
  <dcterms:modified xsi:type="dcterms:W3CDTF">2025-10-28T15:39:25Z</dcterms:modified>
</cp:coreProperties>
</file>